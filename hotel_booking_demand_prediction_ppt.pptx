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3" r:id="rId3"/>
    <p:sldId id="257" r:id="rId4"/>
    <p:sldId id="266" r:id="rId5"/>
    <p:sldId id="259" r:id="rId6"/>
    <p:sldId id="262" r:id="rId7"/>
    <p:sldId id="267" r:id="rId8"/>
    <p:sldId id="260" r:id="rId9"/>
    <p:sldId id="261" r:id="rId10"/>
    <p:sldId id="258" r:id="rId11"/>
    <p:sldId id="268" r:id="rId12"/>
    <p:sldId id="264" r:id="rId13"/>
    <p:sldId id="265"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36E95-2914-448B-AA26-DF3EC426B719}" v="280" dt="2021-11-15T03:56:24.352"/>
    <p1510:client id="{219C4ADB-0AD8-41B9-8208-6DCD60E2962F}" v="1537" dt="2021-11-15T04:40:54.492"/>
    <p1510:client id="{3E53BC0A-73AC-4C9E-9563-4153CA6B7A44}" v="55" dt="2021-11-15T04:51:58.497"/>
    <p1510:client id="{E579BF42-BE4C-4937-A057-EB6ACC82A36D}" v="236" dt="2021-11-15T04:48:31.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attu\AppData\Local\Microsoft\Windows\INetCache\Content.Outlook\ALUYJBSL\Hotel%20Book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attu\AppData\Local\Microsoft\Windows\INetCache\Content.Outlook\ALUYJBSL\Hotel%20Booking.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Booking</a:t>
            </a:r>
            <a:r>
              <a:rPr lang="en-US" baseline="0"/>
              <a:t>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v>Canceled</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Lit>
          </c:cat>
          <c:val>
            <c:numLit>
              <c:formatCode>General</c:formatCode>
              <c:ptCount val="12"/>
              <c:pt idx="0">
                <c:v>1732</c:v>
              </c:pt>
              <c:pt idx="1">
                <c:v>2467</c:v>
              </c:pt>
              <c:pt idx="2">
                <c:v>3027</c:v>
              </c:pt>
              <c:pt idx="3">
                <c:v>4447</c:v>
              </c:pt>
              <c:pt idx="4">
                <c:v>4545</c:v>
              </c:pt>
              <c:pt idx="5">
                <c:v>4451</c:v>
              </c:pt>
              <c:pt idx="6">
                <c:v>4646</c:v>
              </c:pt>
              <c:pt idx="7">
                <c:v>5147</c:v>
              </c:pt>
              <c:pt idx="8">
                <c:v>4049</c:v>
              </c:pt>
              <c:pt idx="9">
                <c:v>4173</c:v>
              </c:pt>
              <c:pt idx="10">
                <c:v>2044</c:v>
              </c:pt>
              <c:pt idx="11">
                <c:v>2289</c:v>
              </c:pt>
            </c:numLit>
          </c:val>
          <c:extLst>
            <c:ext xmlns:c16="http://schemas.microsoft.com/office/drawing/2014/chart" uri="{C3380CC4-5D6E-409C-BE32-E72D297353CC}">
              <c16:uniqueId val="{00000000-A351-4556-BC73-7DCC21949196}"/>
            </c:ext>
          </c:extLst>
        </c:ser>
        <c:ser>
          <c:idx val="1"/>
          <c:order val="1"/>
          <c:tx>
            <c:v>Check-Out</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Lit>
          </c:cat>
          <c:val>
            <c:numLit>
              <c:formatCode>General</c:formatCode>
              <c:ptCount val="12"/>
              <c:pt idx="0">
                <c:v>4122</c:v>
              </c:pt>
              <c:pt idx="1">
                <c:v>5372</c:v>
              </c:pt>
              <c:pt idx="2">
                <c:v>6645</c:v>
              </c:pt>
              <c:pt idx="3">
                <c:v>6565</c:v>
              </c:pt>
              <c:pt idx="4">
                <c:v>7114</c:v>
              </c:pt>
              <c:pt idx="5">
                <c:v>6404</c:v>
              </c:pt>
              <c:pt idx="6">
                <c:v>7919</c:v>
              </c:pt>
              <c:pt idx="7">
                <c:v>8638</c:v>
              </c:pt>
              <c:pt idx="8">
                <c:v>6392</c:v>
              </c:pt>
              <c:pt idx="9">
                <c:v>6914</c:v>
              </c:pt>
              <c:pt idx="10">
                <c:v>4672</c:v>
              </c:pt>
              <c:pt idx="11">
                <c:v>4409</c:v>
              </c:pt>
            </c:numLit>
          </c:val>
          <c:extLst>
            <c:ext xmlns:c16="http://schemas.microsoft.com/office/drawing/2014/chart" uri="{C3380CC4-5D6E-409C-BE32-E72D297353CC}">
              <c16:uniqueId val="{00000001-A351-4556-BC73-7DCC21949196}"/>
            </c:ext>
          </c:extLst>
        </c:ser>
        <c:ser>
          <c:idx val="2"/>
          <c:order val="2"/>
          <c:tx>
            <c:v>No-Show</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Lit>
          </c:cat>
          <c:val>
            <c:numLit>
              <c:formatCode>General</c:formatCode>
              <c:ptCount val="12"/>
              <c:pt idx="0">
                <c:v>75</c:v>
              </c:pt>
              <c:pt idx="1">
                <c:v>229</c:v>
              </c:pt>
              <c:pt idx="2">
                <c:v>122</c:v>
              </c:pt>
              <c:pt idx="3">
                <c:v>77</c:v>
              </c:pt>
              <c:pt idx="4">
                <c:v>132</c:v>
              </c:pt>
              <c:pt idx="5">
                <c:v>84</c:v>
              </c:pt>
              <c:pt idx="6">
                <c:v>96</c:v>
              </c:pt>
              <c:pt idx="7">
                <c:v>92</c:v>
              </c:pt>
              <c:pt idx="8">
                <c:v>67</c:v>
              </c:pt>
              <c:pt idx="9">
                <c:v>73</c:v>
              </c:pt>
              <c:pt idx="10">
                <c:v>78</c:v>
              </c:pt>
              <c:pt idx="11">
                <c:v>82</c:v>
              </c:pt>
            </c:numLit>
          </c:val>
          <c:extLst>
            <c:ext xmlns:c16="http://schemas.microsoft.com/office/drawing/2014/chart" uri="{C3380CC4-5D6E-409C-BE32-E72D297353CC}">
              <c16:uniqueId val="{00000002-A351-4556-BC73-7DCC21949196}"/>
            </c:ext>
          </c:extLst>
        </c:ser>
        <c:dLbls>
          <c:dLblPos val="outEnd"/>
          <c:showLegendKey val="0"/>
          <c:showVal val="1"/>
          <c:showCatName val="0"/>
          <c:showSerName val="0"/>
          <c:showPercent val="0"/>
          <c:showBubbleSize val="0"/>
        </c:dLbls>
        <c:gapWidth val="182"/>
        <c:axId val="1664791344"/>
        <c:axId val="1664795504"/>
      </c:barChart>
      <c:catAx>
        <c:axId val="16647913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4795504"/>
        <c:crosses val="autoZero"/>
        <c:auto val="1"/>
        <c:lblAlgn val="ctr"/>
        <c:lblOffset val="100"/>
        <c:noMultiLvlLbl val="0"/>
      </c:catAx>
      <c:valAx>
        <c:axId val="16647955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47913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5011532649327925E-2"/>
          <c:y val="0.1202525651144436"/>
          <c:w val="0.88755577427821519"/>
          <c:h val="0.80966608455710987"/>
        </c:manualLayout>
      </c:layout>
      <c:barChart>
        <c:barDir val="col"/>
        <c:grouping val="clustered"/>
        <c:varyColors val="0"/>
        <c:ser>
          <c:idx val="0"/>
          <c:order val="0"/>
          <c:tx>
            <c:v>Total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6"/>
              <c:pt idx="0">
                <c:v>City Hotel Canceled</c:v>
              </c:pt>
              <c:pt idx="1">
                <c:v>City Hotel Check-Out</c:v>
              </c:pt>
              <c:pt idx="2">
                <c:v>City Hotel No-Show</c:v>
              </c:pt>
              <c:pt idx="3">
                <c:v>Resort Hotel Canceled</c:v>
              </c:pt>
              <c:pt idx="4">
                <c:v>Resort Hotel Check-Out</c:v>
              </c:pt>
              <c:pt idx="5">
                <c:v>Resort Hotel No-Show</c:v>
              </c:pt>
            </c:strLit>
          </c:cat>
          <c:val>
            <c:numLit>
              <c:formatCode>General</c:formatCode>
              <c:ptCount val="6"/>
              <c:pt idx="0">
                <c:v>32186</c:v>
              </c:pt>
              <c:pt idx="1">
                <c:v>46228</c:v>
              </c:pt>
              <c:pt idx="2">
                <c:v>916</c:v>
              </c:pt>
              <c:pt idx="3">
                <c:v>10831</c:v>
              </c:pt>
              <c:pt idx="4">
                <c:v>28938</c:v>
              </c:pt>
              <c:pt idx="5">
                <c:v>291</c:v>
              </c:pt>
            </c:numLit>
          </c:val>
          <c:extLst>
            <c:ext xmlns:c16="http://schemas.microsoft.com/office/drawing/2014/chart" uri="{C3380CC4-5D6E-409C-BE32-E72D297353CC}">
              <c16:uniqueId val="{00000000-BAE6-4A81-903C-AC74C3025951}"/>
            </c:ext>
          </c:extLst>
        </c:ser>
        <c:dLbls>
          <c:dLblPos val="outEnd"/>
          <c:showLegendKey val="0"/>
          <c:showVal val="1"/>
          <c:showCatName val="0"/>
          <c:showSerName val="0"/>
          <c:showPercent val="0"/>
          <c:showBubbleSize val="0"/>
        </c:dLbls>
        <c:gapWidth val="219"/>
        <c:overlap val="-27"/>
        <c:axId val="1661852992"/>
        <c:axId val="1661853408"/>
      </c:barChart>
      <c:catAx>
        <c:axId val="1661852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853408"/>
        <c:crosses val="autoZero"/>
        <c:auto val="1"/>
        <c:lblAlgn val="ctr"/>
        <c:lblOffset val="100"/>
        <c:noMultiLvlLbl val="0"/>
      </c:catAx>
      <c:valAx>
        <c:axId val="16618534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8529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7585C5B0-BD59-4D70-B323-226283DDAE3F}"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4C8910-CEA4-4976-8345-158B1715FC5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850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85C5B0-BD59-4D70-B323-226283DDAE3F}"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2478102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5C5B0-BD59-4D70-B323-226283DDAE3F}"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4C8910-CEA4-4976-8345-158B1715FC5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673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85C5B0-BD59-4D70-B323-226283DDAE3F}" type="datetimeFigureOut">
              <a:rPr lang="en-US" smtClean="0"/>
              <a:t>11/28/2021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288812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85C5B0-BD59-4D70-B323-226283DDAE3F}" type="datetimeFigureOut">
              <a:rPr lang="en-US" smtClean="0"/>
              <a:t>11/28/2021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715500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85C5B0-BD59-4D70-B323-226283DDAE3F}" type="datetimeFigureOut">
              <a:rPr lang="en-US" smtClean="0"/>
              <a:t>11/28/2021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1503400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85C5B0-BD59-4D70-B323-226283DDAE3F}" type="datetimeFigureOut">
              <a:rPr lang="en-US" smtClean="0"/>
              <a:t>11/28/2021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4090713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585C5B0-BD59-4D70-B323-226283DDAE3F}" type="datetimeFigureOut">
              <a:rPr lang="en-US" smtClean="0"/>
              <a:t>11/28/2021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14C8910-CEA4-4976-8345-158B1715FC59}" type="slidenum">
              <a:rPr lang="en-US" smtClean="0"/>
              <a:t>‹#›</a:t>
            </a:fld>
            <a:endParaRPr lang="en-US"/>
          </a:p>
        </p:txBody>
      </p:sp>
    </p:spTree>
    <p:extLst>
      <p:ext uri="{BB962C8B-B14F-4D97-AF65-F5344CB8AC3E}">
        <p14:creationId xmlns:p14="http://schemas.microsoft.com/office/powerpoint/2010/main" val="3549711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85C5B0-BD59-4D70-B323-226283DDAE3F}" type="datetimeFigureOut">
              <a:rPr lang="en-US" smtClean="0"/>
              <a:t>11/28/2021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3952261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85C5B0-BD59-4D70-B323-226283DDAE3F}"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1694172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85C5B0-BD59-4D70-B323-226283DDAE3F}"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4C8910-CEA4-4976-8345-158B1715FC59}" type="slidenum">
              <a:rPr lang="en-US" smtClean="0"/>
              <a:t>‹#›</a:t>
            </a:fld>
            <a:endParaRPr lang="en-US"/>
          </a:p>
        </p:txBody>
      </p:sp>
    </p:spTree>
    <p:extLst>
      <p:ext uri="{BB962C8B-B14F-4D97-AF65-F5344CB8AC3E}">
        <p14:creationId xmlns:p14="http://schemas.microsoft.com/office/powerpoint/2010/main" val="78249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585C5B0-BD59-4D70-B323-226283DDAE3F}" type="datetimeFigureOut">
              <a:rPr lang="en-US" smtClean="0"/>
              <a:t>11/28/2021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14C8910-CEA4-4976-8345-158B1715FC5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38011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raph on document with pen">
            <a:extLst>
              <a:ext uri="{FF2B5EF4-FFF2-40B4-BE49-F238E27FC236}">
                <a16:creationId xmlns:a16="http://schemas.microsoft.com/office/drawing/2014/main" id="{40BB3FB2-5BBD-47D7-BAFE-3FFA6B4D2003}"/>
              </a:ext>
            </a:extLst>
          </p:cNvPr>
          <p:cNvPicPr>
            <a:picLocks noChangeAspect="1"/>
          </p:cNvPicPr>
          <p:nvPr/>
        </p:nvPicPr>
        <p:blipFill rotWithShape="1">
          <a:blip r:embed="rId2">
            <a:duotone>
              <a:prstClr val="black"/>
              <a:schemeClr val="tx2">
                <a:tint val="45000"/>
                <a:satMod val="400000"/>
              </a:schemeClr>
            </a:duotone>
            <a:alphaModFix amt="40000"/>
          </a:blip>
          <a:srcRect t="983" r="-2" b="14619"/>
          <a:stretch/>
        </p:blipFill>
        <p:spPr>
          <a:xfrm>
            <a:off x="20" y="10"/>
            <a:ext cx="12191980" cy="6857991"/>
          </a:xfrm>
          <a:prstGeom prst="rect">
            <a:avLst/>
          </a:prstGeom>
        </p:spPr>
      </p:pic>
      <p:sp>
        <p:nvSpPr>
          <p:cNvPr id="2" name="Title 1">
            <a:extLst>
              <a:ext uri="{FF2B5EF4-FFF2-40B4-BE49-F238E27FC236}">
                <a16:creationId xmlns:a16="http://schemas.microsoft.com/office/drawing/2014/main" id="{66768F4A-6942-4FD2-AF8D-37005896FE91}"/>
              </a:ext>
            </a:extLst>
          </p:cNvPr>
          <p:cNvSpPr>
            <a:spLocks noGrp="1"/>
          </p:cNvSpPr>
          <p:nvPr>
            <p:ph type="ctrTitle"/>
          </p:nvPr>
        </p:nvSpPr>
        <p:spPr/>
        <p:txBody>
          <a:bodyPr>
            <a:normAutofit/>
          </a:bodyPr>
          <a:lstStyle/>
          <a:p>
            <a:r>
              <a:rPr lang="en-US">
                <a:cs typeface="Calibri Light"/>
              </a:rPr>
              <a:t>Hotel Booking Demand Prediction</a:t>
            </a:r>
            <a:endParaRPr lang="en-US"/>
          </a:p>
        </p:txBody>
      </p:sp>
      <p:sp>
        <p:nvSpPr>
          <p:cNvPr id="3" name="Subtitle 2">
            <a:extLst>
              <a:ext uri="{FF2B5EF4-FFF2-40B4-BE49-F238E27FC236}">
                <a16:creationId xmlns:a16="http://schemas.microsoft.com/office/drawing/2014/main" id="{439D9F40-D24E-4502-B5AB-9B20D9B097D2}"/>
              </a:ext>
            </a:extLst>
          </p:cNvPr>
          <p:cNvSpPr>
            <a:spLocks noGrp="1"/>
          </p:cNvSpPr>
          <p:nvPr>
            <p:ph type="subTitle" idx="1"/>
          </p:nvPr>
        </p:nvSpPr>
        <p:spPr/>
        <p:txBody>
          <a:bodyPr>
            <a:normAutofit fontScale="47500" lnSpcReduction="20000"/>
          </a:bodyPr>
          <a:lstStyle/>
          <a:p>
            <a:r>
              <a:rPr lang="en-US" dirty="0">
                <a:cs typeface="Calibri Light"/>
              </a:rPr>
              <a:t>Neelesh Gangrade</a:t>
            </a:r>
          </a:p>
          <a:p>
            <a:r>
              <a:rPr lang="en-US" dirty="0"/>
              <a:t>Lavu Sri </a:t>
            </a:r>
            <a:r>
              <a:rPr lang="en-US" dirty="0" err="1"/>
              <a:t>Jushatha</a:t>
            </a:r>
            <a:endParaRPr lang="en-US" dirty="0"/>
          </a:p>
          <a:p>
            <a:r>
              <a:rPr lang="en-US" dirty="0"/>
              <a:t>Mohammad Zubair Shaik</a:t>
            </a:r>
          </a:p>
          <a:p>
            <a:r>
              <a:rPr lang="en-US" dirty="0" err="1"/>
              <a:t>Battula</a:t>
            </a:r>
            <a:r>
              <a:rPr lang="en-US" dirty="0"/>
              <a:t> Venkata </a:t>
            </a:r>
            <a:r>
              <a:rPr lang="en-US" dirty="0" err="1"/>
              <a:t>Bala</a:t>
            </a:r>
            <a:r>
              <a:rPr lang="en-US"/>
              <a:t> Krishna</a:t>
            </a:r>
          </a:p>
          <a:p>
            <a:endParaRPr lang="en-US" dirty="0"/>
          </a:p>
        </p:txBody>
      </p:sp>
    </p:spTree>
    <p:extLst>
      <p:ext uri="{BB962C8B-B14F-4D97-AF65-F5344CB8AC3E}">
        <p14:creationId xmlns:p14="http://schemas.microsoft.com/office/powerpoint/2010/main" val="20209695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200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4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2000"/>
                                  </p:stCondLst>
                                  <p:iterate type="lt">
                                    <p:tmPct val="10000"/>
                                  </p:iterate>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400"/>
                                        <p:tgtEl>
                                          <p:spTgt spid="3">
                                            <p:txEl>
                                              <p:pRg st="3" end="3"/>
                                            </p:txEl>
                                          </p:spTgt>
                                        </p:tgtEl>
                                      </p:cBhvr>
                                    </p:animEffect>
                                  </p:childTnLst>
                                </p:cTn>
                              </p:par>
                              <p:par>
                                <p:cTn id="23" presetID="10" presetClass="entr" presetSubtype="0" fill="hold" grpId="0" nodeType="withEffect">
                                  <p:stCondLst>
                                    <p:cond delay="1000"/>
                                  </p:stCondLst>
                                  <p:iterate type="lt">
                                    <p:tmPct val="10000"/>
                                  </p:iterate>
                                  <p:childTnLst>
                                    <p:set>
                                      <p:cBhvr>
                                        <p:cTn id="24" dur="1" fill="hold">
                                          <p:stCondLst>
                                            <p:cond delay="0"/>
                                          </p:stCondLst>
                                        </p:cTn>
                                        <p:tgtEl>
                                          <p:spTgt spid="2"/>
                                        </p:tgtEl>
                                        <p:attrNameLst>
                                          <p:attrName>style.visibility</p:attrName>
                                        </p:attrNameLst>
                                      </p:cBhvr>
                                      <p:to>
                                        <p:strVal val="visible"/>
                                      </p:to>
                                    </p:set>
                                    <p:animEffect transition="in" filter="fade">
                                      <p:cBhvr>
                                        <p:cTn id="2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6BED62C9-17C4-46EE-9322-C9854FB2E3CB}"/>
              </a:ext>
            </a:extLst>
          </p:cNvPr>
          <p:cNvSpPr>
            <a:spLocks noGrp="1"/>
          </p:cNvSpPr>
          <p:nvPr>
            <p:ph idx="1"/>
          </p:nvPr>
        </p:nvSpPr>
        <p:spPr>
          <a:xfrm>
            <a:off x="848303" y="601521"/>
            <a:ext cx="9965471" cy="3471467"/>
          </a:xfrm>
        </p:spPr>
        <p:txBody>
          <a:bodyPr vert="horz" lIns="0" tIns="45720" rIns="0" bIns="45720" rtlCol="0" anchor="t">
            <a:normAutofit fontScale="92500" lnSpcReduction="10000"/>
          </a:bodyPr>
          <a:lstStyle/>
          <a:p>
            <a:pPr marL="0" indent="0">
              <a:buNone/>
            </a:pPr>
            <a:endParaRPr lang="en-US" dirty="0">
              <a:ea typeface="+mn-lt"/>
              <a:cs typeface="+mn-lt"/>
            </a:endParaRPr>
          </a:p>
          <a:p>
            <a:r>
              <a:rPr lang="en-US" b="1" dirty="0">
                <a:ea typeface="+mn-lt"/>
                <a:cs typeface="+mn-lt"/>
              </a:rPr>
              <a:t>Hotel Industry and Analysis Goals:</a:t>
            </a:r>
          </a:p>
          <a:p>
            <a:pPr marL="0" indent="0" algn="just">
              <a:buNone/>
            </a:pPr>
            <a:r>
              <a:rPr lang="en-US" b="1" dirty="0">
                <a:ea typeface="+mn-lt"/>
                <a:cs typeface="+mn-lt"/>
              </a:rPr>
              <a:t> </a:t>
            </a:r>
            <a:r>
              <a:rPr lang="en-US" dirty="0">
                <a:ea typeface="+mn-lt"/>
                <a:cs typeface="+mn-lt"/>
              </a:rPr>
              <a:t>In the last two years, the pandemic has had a significant impact on the hotel industry. Every company had a low number of hotel reservations. We will recommend measures to improve bookings so that the hotel can make a profit. There are two categories of hotels owned by our client: resort hotels and city hotels. There are both quantitative and qualitative variables in the dataset. </a:t>
            </a:r>
          </a:p>
          <a:p>
            <a:pPr algn="just"/>
            <a:r>
              <a:rPr lang="en-US" dirty="0">
                <a:ea typeface="+mn-lt"/>
                <a:cs typeface="+mn-lt"/>
              </a:rPr>
              <a:t>With the help of this data set we will be analyzing the booking demand. We will be predicting the possibility of bookings with respect to different factors such as Type of Hotel, Arrival Date, Customer Type. The aim of this project is to predict the demand and help our client in improving their business. </a:t>
            </a:r>
            <a:br>
              <a:rPr lang="en-US" dirty="0">
                <a:ea typeface="+mn-lt"/>
                <a:cs typeface="+mn-lt"/>
              </a:rPr>
            </a:br>
            <a:br>
              <a:rPr lang="en-US" dirty="0">
                <a:ea typeface="+mn-lt"/>
                <a:cs typeface="+mn-lt"/>
              </a:rPr>
            </a:br>
            <a:endParaRPr lang="en-US" dirty="0">
              <a:ea typeface="+mn-lt"/>
              <a:cs typeface="+mn-lt"/>
            </a:endParaRP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3360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610DA-9D8F-45FA-B8CF-7DD3A65E3E98}"/>
              </a:ext>
            </a:extLst>
          </p:cNvPr>
          <p:cNvSpPr>
            <a:spLocks noGrp="1"/>
          </p:cNvSpPr>
          <p:nvPr>
            <p:ph type="title"/>
          </p:nvPr>
        </p:nvSpPr>
        <p:spPr>
          <a:xfrm>
            <a:off x="7859485" y="634946"/>
            <a:ext cx="3690257" cy="1450757"/>
          </a:xfrm>
        </p:spPr>
        <p:txBody>
          <a:bodyPr>
            <a:normAutofit/>
          </a:bodyPr>
          <a:lstStyle/>
          <a:p>
            <a:r>
              <a:rPr lang="en-US" sz="3400"/>
              <a:t>Graphical Presentation  of Data</a:t>
            </a:r>
          </a:p>
        </p:txBody>
      </p:sp>
      <p:pic>
        <p:nvPicPr>
          <p:cNvPr id="4" name="Picture 4" descr="Chart, bar chart&#10;&#10;Description automatically generated">
            <a:extLst>
              <a:ext uri="{FF2B5EF4-FFF2-40B4-BE49-F238E27FC236}">
                <a16:creationId xmlns:a16="http://schemas.microsoft.com/office/drawing/2014/main" id="{61DD386A-2961-47CB-AF48-7848CC7FD553}"/>
              </a:ext>
            </a:extLst>
          </p:cNvPr>
          <p:cNvPicPr>
            <a:picLocks noChangeAspect="1"/>
          </p:cNvPicPr>
          <p:nvPr/>
        </p:nvPicPr>
        <p:blipFill>
          <a:blip r:embed="rId2"/>
          <a:stretch>
            <a:fillRect/>
          </a:stretch>
        </p:blipFill>
        <p:spPr>
          <a:xfrm>
            <a:off x="633999" y="1075189"/>
            <a:ext cx="6909801" cy="4444189"/>
          </a:xfrm>
          <a:prstGeom prst="rect">
            <a:avLst/>
          </a:prstGeom>
        </p:spPr>
      </p:pic>
      <p:cxnSp>
        <p:nvCxnSpPr>
          <p:cNvPr id="14"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4176C9CB-CECA-44CE-BAF3-1269A08D2CB1}"/>
              </a:ext>
            </a:extLst>
          </p:cNvPr>
          <p:cNvSpPr>
            <a:spLocks noGrp="1"/>
          </p:cNvSpPr>
          <p:nvPr>
            <p:ph idx="1"/>
          </p:nvPr>
        </p:nvSpPr>
        <p:spPr>
          <a:xfrm>
            <a:off x="7859485" y="2198914"/>
            <a:ext cx="3690257" cy="3670180"/>
          </a:xfrm>
        </p:spPr>
        <p:txBody>
          <a:bodyPr vert="horz" lIns="0" tIns="45720" rIns="0" bIns="45720" rtlCol="0">
            <a:normAutofit/>
          </a:bodyPr>
          <a:lstStyle/>
          <a:p>
            <a:r>
              <a:rPr lang="en-US" sz="1900"/>
              <a:t>This graph represents the total number of booking made in one fiscal year.</a:t>
            </a:r>
          </a:p>
          <a:p>
            <a:r>
              <a:rPr lang="en-US" sz="1900">
                <a:ea typeface="+mn-lt"/>
                <a:cs typeface="+mn-lt"/>
              </a:rPr>
              <a:t>The month of August has the most bookings, with 8638 total bookings, followed by the month of July, with 7919 total bookings. </a:t>
            </a:r>
            <a:endParaRPr lang="en-US" sz="1900"/>
          </a:p>
          <a:p>
            <a:r>
              <a:rPr lang="en-US" sz="1900">
                <a:ea typeface="+mn-lt"/>
                <a:cs typeface="+mn-lt"/>
              </a:rPr>
              <a:t>We may deduce that these two months provide most of the income because they have the highest number of bookings compared to the others. </a:t>
            </a:r>
          </a:p>
        </p:txBody>
      </p:sp>
      <p:sp>
        <p:nvSpPr>
          <p:cNvPr id="16"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24667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63E00694-E403-4987-8634-15F6D8E4C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t>/</a:t>
            </a:r>
          </a:p>
        </p:txBody>
      </p:sp>
      <p:sp>
        <p:nvSpPr>
          <p:cNvPr id="2" name="Title 1">
            <a:extLst>
              <a:ext uri="{FF2B5EF4-FFF2-40B4-BE49-F238E27FC236}">
                <a16:creationId xmlns:a16="http://schemas.microsoft.com/office/drawing/2014/main" id="{5D2F1152-A336-49D2-AEEC-A6442DE25C5D}"/>
              </a:ext>
            </a:extLst>
          </p:cNvPr>
          <p:cNvSpPr>
            <a:spLocks noGrp="1"/>
          </p:cNvSpPr>
          <p:nvPr>
            <p:ph type="title"/>
          </p:nvPr>
        </p:nvSpPr>
        <p:spPr>
          <a:xfrm>
            <a:off x="1097280" y="4844374"/>
            <a:ext cx="10058400" cy="1188995"/>
          </a:xfrm>
        </p:spPr>
        <p:txBody>
          <a:bodyPr anchor="ctr">
            <a:normAutofit/>
          </a:bodyPr>
          <a:lstStyle/>
          <a:p>
            <a:pPr algn="ctr"/>
            <a:r>
              <a:rPr lang="en-US">
                <a:cs typeface="Calibri Light"/>
              </a:rPr>
              <a:t>Total Reservations</a:t>
            </a:r>
            <a:endParaRPr lang="en-US"/>
          </a:p>
        </p:txBody>
      </p:sp>
      <p:graphicFrame>
        <p:nvGraphicFramePr>
          <p:cNvPr id="17" name="Content Placeholder 3">
            <a:extLst>
              <a:ext uri="{FF2B5EF4-FFF2-40B4-BE49-F238E27FC236}">
                <a16:creationId xmlns:a16="http://schemas.microsoft.com/office/drawing/2014/main" id="{497CE894-30E0-4CC3-8B15-99F282E95BCE}"/>
              </a:ext>
            </a:extLst>
          </p:cNvPr>
          <p:cNvGraphicFramePr>
            <a:graphicFrameLocks noGrp="1"/>
          </p:cNvGraphicFramePr>
          <p:nvPr>
            <p:ph idx="1"/>
            <p:extLst>
              <p:ext uri="{D42A27DB-BD31-4B8C-83A1-F6EECF244321}">
                <p14:modId xmlns:p14="http://schemas.microsoft.com/office/powerpoint/2010/main" val="3837645207"/>
              </p:ext>
            </p:extLst>
          </p:nvPr>
        </p:nvGraphicFramePr>
        <p:xfrm>
          <a:off x="1036319" y="680936"/>
          <a:ext cx="10119362" cy="37653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41147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3192-6A2D-4904-AB68-F38D39160DC0}"/>
              </a:ext>
            </a:extLst>
          </p:cNvPr>
          <p:cNvSpPr>
            <a:spLocks noGrp="1"/>
          </p:cNvSpPr>
          <p:nvPr>
            <p:ph type="title"/>
          </p:nvPr>
        </p:nvSpPr>
        <p:spPr/>
        <p:txBody>
          <a:bodyPr>
            <a:normAutofit/>
          </a:bodyPr>
          <a:lstStyle/>
          <a:p>
            <a:r>
              <a:rPr lang="en-US"/>
              <a:t>Booking</a:t>
            </a:r>
            <a:r>
              <a:rPr lang="en-US" baseline="0"/>
              <a:t> Status by Type of Hotel</a:t>
            </a:r>
            <a:endParaRPr lang="en-US"/>
          </a:p>
        </p:txBody>
      </p:sp>
      <p:sp>
        <p:nvSpPr>
          <p:cNvPr id="6" name="Content Placeholder 5">
            <a:extLst>
              <a:ext uri="{FF2B5EF4-FFF2-40B4-BE49-F238E27FC236}">
                <a16:creationId xmlns:a16="http://schemas.microsoft.com/office/drawing/2014/main" id="{21FA3122-FE1B-4F8C-BF3D-027FA1155994}"/>
              </a:ext>
            </a:extLst>
          </p:cNvPr>
          <p:cNvSpPr>
            <a:spLocks noGrp="1"/>
          </p:cNvSpPr>
          <p:nvPr>
            <p:ph idx="1"/>
          </p:nvPr>
        </p:nvSpPr>
        <p:spPr>
          <a:xfrm>
            <a:off x="1097279" y="1845734"/>
            <a:ext cx="6454987" cy="4023360"/>
          </a:xfrm>
        </p:spPr>
        <p:txBody>
          <a:bodyPr vert="horz" lIns="0" tIns="45720" rIns="0" bIns="45720" rtlCol="0" anchor="t">
            <a:normAutofit/>
          </a:bodyPr>
          <a:lstStyle/>
          <a:p>
            <a:pPr marL="0" indent="0" algn="just">
              <a:buNone/>
            </a:pPr>
            <a:r>
              <a:rPr lang="en-US"/>
              <a:t> The graph depicts bookings made depending on the type of hotel (Resort hotel or City hotel).</a:t>
            </a:r>
          </a:p>
          <a:p>
            <a:pPr algn="just">
              <a:buNone/>
            </a:pPr>
            <a:r>
              <a:rPr lang="en-US">
                <a:ea typeface="+mn-lt"/>
                <a:cs typeface="+mn-lt"/>
              </a:rPr>
              <a:t>The cancelled bookings for city hotels are double than the cancelled bookings for resort hotels when compared to the total bookings made.</a:t>
            </a:r>
          </a:p>
          <a:p>
            <a:pPr marL="0" indent="0" algn="just">
              <a:buNone/>
            </a:pPr>
            <a:r>
              <a:rPr lang="en-US">
                <a:cs typeface="Calibri" panose="020F0502020204030204"/>
              </a:rPr>
              <a:t>The demand for city hotels is clearly higher than the demand for resort hotels, as city hotel bookings are higher. However, for city hotels, cancellations account for more than half of all reservations. </a:t>
            </a:r>
          </a:p>
          <a:p>
            <a:pPr marL="0" indent="0" algn="just">
              <a:buNone/>
            </a:pPr>
            <a:r>
              <a:rPr lang="en-US">
                <a:cs typeface="Calibri" panose="020F0502020204030204"/>
              </a:rPr>
              <a:t>It would be advised a decision should be taken to decrease the cancellations by taking reviews from customers and comparing the costs with the competitors.</a:t>
            </a:r>
          </a:p>
          <a:p>
            <a:pPr marL="0" indent="0">
              <a:buNone/>
            </a:pPr>
            <a:endParaRPr lang="en-US">
              <a:cs typeface="Calibri" panose="020F0502020204030204"/>
            </a:endParaRPr>
          </a:p>
        </p:txBody>
      </p:sp>
      <p:graphicFrame>
        <p:nvGraphicFramePr>
          <p:cNvPr id="7" name="Content Placeholder 3">
            <a:extLst>
              <a:ext uri="{FF2B5EF4-FFF2-40B4-BE49-F238E27FC236}">
                <a16:creationId xmlns:a16="http://schemas.microsoft.com/office/drawing/2014/main" id="{02D688A5-18BB-41AB-A7EC-CCA17A77703E}"/>
              </a:ext>
            </a:extLst>
          </p:cNvPr>
          <p:cNvGraphicFramePr>
            <a:graphicFrameLocks/>
          </p:cNvGraphicFramePr>
          <p:nvPr>
            <p:extLst>
              <p:ext uri="{D42A27DB-BD31-4B8C-83A1-F6EECF244321}">
                <p14:modId xmlns:p14="http://schemas.microsoft.com/office/powerpoint/2010/main" val="146135763"/>
              </p:ext>
            </p:extLst>
          </p:nvPr>
        </p:nvGraphicFramePr>
        <p:xfrm>
          <a:off x="8020570" y="1916318"/>
          <a:ext cx="3135109" cy="34710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9913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3">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B90069-215B-4BC0-B9AB-F73A95219D15}"/>
              </a:ext>
            </a:extLst>
          </p:cNvPr>
          <p:cNvSpPr>
            <a:spLocks noGrp="1"/>
          </p:cNvSpPr>
          <p:nvPr>
            <p:ph type="title"/>
          </p:nvPr>
        </p:nvSpPr>
        <p:spPr>
          <a:xfrm>
            <a:off x="7859485" y="634946"/>
            <a:ext cx="3690257" cy="1450757"/>
          </a:xfrm>
        </p:spPr>
        <p:txBody>
          <a:bodyPr>
            <a:normAutofit fontScale="90000"/>
          </a:bodyPr>
          <a:lstStyle/>
          <a:p>
            <a:r>
              <a:rPr lang="en-US" dirty="0">
                <a:cs typeface="Calibri Light"/>
              </a:rPr>
              <a:t>Country wise Reservations Status</a:t>
            </a:r>
            <a:endParaRPr lang="en-US" dirty="0"/>
          </a:p>
        </p:txBody>
      </p:sp>
      <p:pic>
        <p:nvPicPr>
          <p:cNvPr id="10" name="Picture 10" descr="Chart, bar chart&#10;&#10;Description automatically generated">
            <a:extLst>
              <a:ext uri="{FF2B5EF4-FFF2-40B4-BE49-F238E27FC236}">
                <a16:creationId xmlns:a16="http://schemas.microsoft.com/office/drawing/2014/main" id="{535B4CDE-E94A-47A1-A7AC-B0818B0C7D47}"/>
              </a:ext>
            </a:extLst>
          </p:cNvPr>
          <p:cNvPicPr>
            <a:picLocks noChangeAspect="1"/>
          </p:cNvPicPr>
          <p:nvPr/>
        </p:nvPicPr>
        <p:blipFill>
          <a:blip r:embed="rId2"/>
          <a:stretch>
            <a:fillRect/>
          </a:stretch>
        </p:blipFill>
        <p:spPr>
          <a:xfrm>
            <a:off x="633999" y="1552559"/>
            <a:ext cx="6909801" cy="3489450"/>
          </a:xfrm>
          <a:prstGeom prst="rect">
            <a:avLst/>
          </a:prstGeom>
        </p:spPr>
      </p:pic>
      <p:cxnSp>
        <p:nvCxnSpPr>
          <p:cNvPr id="53" name="Straight Connector 55">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E3806117-5FB5-4D45-9C0B-525BB4E017E7}"/>
              </a:ext>
            </a:extLst>
          </p:cNvPr>
          <p:cNvSpPr>
            <a:spLocks noGrp="1"/>
          </p:cNvSpPr>
          <p:nvPr>
            <p:ph idx="1"/>
          </p:nvPr>
        </p:nvSpPr>
        <p:spPr>
          <a:xfrm>
            <a:off x="7890800" y="2282421"/>
            <a:ext cx="3690257" cy="3670180"/>
          </a:xfrm>
        </p:spPr>
        <p:txBody>
          <a:bodyPr vert="horz" lIns="0" tIns="45720" rIns="0" bIns="45720" rtlCol="0" anchor="t">
            <a:normAutofit/>
          </a:bodyPr>
          <a:lstStyle/>
          <a:p>
            <a:r>
              <a:rPr lang="en-US">
                <a:cs typeface="Calibri"/>
              </a:rPr>
              <a:t>This graph shows booking made for different countries.</a:t>
            </a:r>
          </a:p>
          <a:p>
            <a:r>
              <a:rPr lang="en-US">
                <a:ea typeface="+mn-lt"/>
                <a:cs typeface="+mn-lt"/>
              </a:rPr>
              <a:t>Bookings in France are significantly higher than in other nations yet cancelled bookings in France outnumber reservations made by 26765 to 21071.</a:t>
            </a:r>
          </a:p>
          <a:p>
            <a:endParaRPr lang="en-US">
              <a:ea typeface="+mn-lt"/>
              <a:cs typeface="+mn-lt"/>
            </a:endParaRPr>
          </a:p>
        </p:txBody>
      </p:sp>
      <p:sp>
        <p:nvSpPr>
          <p:cNvPr id="58" name="Rectangle 57">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Rectangle 59">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49500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4230C3-7333-4074-8F5F-4CA4BC74150C}"/>
              </a:ext>
            </a:extLst>
          </p:cNvPr>
          <p:cNvSpPr>
            <a:spLocks noGrp="1"/>
          </p:cNvSpPr>
          <p:nvPr>
            <p:ph type="title"/>
          </p:nvPr>
        </p:nvSpPr>
        <p:spPr>
          <a:xfrm>
            <a:off x="6411685" y="634946"/>
            <a:ext cx="5127171" cy="1450757"/>
          </a:xfrm>
        </p:spPr>
        <p:txBody>
          <a:bodyPr>
            <a:normAutofit/>
          </a:bodyPr>
          <a:lstStyle/>
          <a:p>
            <a:r>
              <a:rPr lang="en-US" dirty="0">
                <a:cs typeface="Calibri Light"/>
              </a:rPr>
              <a:t>Total Bookings on customer type</a:t>
            </a:r>
          </a:p>
        </p:txBody>
      </p:sp>
      <p:pic>
        <p:nvPicPr>
          <p:cNvPr id="8" name="Picture 8" descr="Chart, bar chart, waterfall chart&#10;&#10;Description automatically generated">
            <a:extLst>
              <a:ext uri="{FF2B5EF4-FFF2-40B4-BE49-F238E27FC236}">
                <a16:creationId xmlns:a16="http://schemas.microsoft.com/office/drawing/2014/main" id="{C72764F0-D46C-476D-AC9D-3B3CF26D805E}"/>
              </a:ext>
            </a:extLst>
          </p:cNvPr>
          <p:cNvPicPr>
            <a:picLocks noChangeAspect="1"/>
          </p:cNvPicPr>
          <p:nvPr/>
        </p:nvPicPr>
        <p:blipFill>
          <a:blip r:embed="rId2"/>
          <a:stretch>
            <a:fillRect/>
          </a:stretch>
        </p:blipFill>
        <p:spPr>
          <a:xfrm>
            <a:off x="643192" y="1487874"/>
            <a:ext cx="5451627" cy="3562211"/>
          </a:xfrm>
          <a:prstGeom prst="rect">
            <a:avLst/>
          </a:prstGeom>
        </p:spPr>
      </p:pic>
      <p:cxnSp>
        <p:nvCxnSpPr>
          <p:cNvPr id="25" name="Straight Connector 24">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34EBAB30-5A77-4411-A774-8A0E7451F92E}"/>
              </a:ext>
            </a:extLst>
          </p:cNvPr>
          <p:cNvSpPr>
            <a:spLocks noGrp="1"/>
          </p:cNvSpPr>
          <p:nvPr>
            <p:ph idx="1"/>
          </p:nvPr>
        </p:nvSpPr>
        <p:spPr>
          <a:xfrm>
            <a:off x="6411684" y="2198914"/>
            <a:ext cx="5127172" cy="3670180"/>
          </a:xfrm>
        </p:spPr>
        <p:txBody>
          <a:bodyPr vert="horz" lIns="0" tIns="45720" rIns="0" bIns="45720" rtlCol="0" anchor="t">
            <a:normAutofit lnSpcReduction="10000"/>
          </a:bodyPr>
          <a:lstStyle/>
          <a:p>
            <a:r>
              <a:rPr lang="en-US">
                <a:ea typeface="+mn-lt"/>
                <a:cs typeface="+mn-lt"/>
              </a:rPr>
              <a:t>The graphs show the different types of customers who stay in different types of hotels.</a:t>
            </a:r>
          </a:p>
          <a:p>
            <a:r>
              <a:rPr lang="en-US">
                <a:cs typeface="Calibri"/>
              </a:rPr>
              <a:t>Transient guests in city hotels is higher than the transient guets in resort hotels, which is good sign, as the hotel gets a resonable profit margin through transient customers.</a:t>
            </a:r>
          </a:p>
          <a:p>
            <a:r>
              <a:rPr lang="en-US">
                <a:ea typeface="+mn-lt"/>
                <a:cs typeface="+mn-lt"/>
              </a:rPr>
              <a:t>Adjusting room pricing, experimenting with promotional discounts (such as offering a complementary breakfast for last-minute bookings), and putting your hotel on multiple online travel agencies will all help to enhance your visibility.</a:t>
            </a:r>
          </a:p>
        </p:txBody>
      </p:sp>
      <p:sp>
        <p:nvSpPr>
          <p:cNvPr id="27" name="Rectangle 26">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Rectangle 28">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78038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0FA4-46FB-4802-A2CC-1E3E31D00973}"/>
              </a:ext>
            </a:extLst>
          </p:cNvPr>
          <p:cNvSpPr>
            <a:spLocks noGrp="1"/>
          </p:cNvSpPr>
          <p:nvPr>
            <p:ph type="title"/>
          </p:nvPr>
        </p:nvSpPr>
        <p:spPr/>
        <p:txBody>
          <a:bodyPr>
            <a:normAutofit/>
          </a:bodyPr>
          <a:lstStyle/>
          <a:p>
            <a:r>
              <a:rPr lang="en-US" sz="5400" b="1" dirty="0">
                <a:cs typeface="Calibri Light"/>
              </a:rPr>
              <a:t>Design Analysis:</a:t>
            </a:r>
          </a:p>
        </p:txBody>
      </p:sp>
      <p:sp>
        <p:nvSpPr>
          <p:cNvPr id="3" name="Content Placeholder 2">
            <a:extLst>
              <a:ext uri="{FF2B5EF4-FFF2-40B4-BE49-F238E27FC236}">
                <a16:creationId xmlns:a16="http://schemas.microsoft.com/office/drawing/2014/main" id="{44DBA33D-C54C-4406-8431-84CD36B7368A}"/>
              </a:ext>
            </a:extLst>
          </p:cNvPr>
          <p:cNvSpPr>
            <a:spLocks noGrp="1"/>
          </p:cNvSpPr>
          <p:nvPr>
            <p:ph idx="1"/>
          </p:nvPr>
        </p:nvSpPr>
        <p:spPr/>
        <p:txBody>
          <a:bodyPr vert="horz" lIns="0" tIns="45720" rIns="0" bIns="45720" rtlCol="0" anchor="t">
            <a:normAutofit/>
          </a:bodyPr>
          <a:lstStyle/>
          <a:p>
            <a:pPr marL="0" indent="0">
              <a:buNone/>
            </a:pPr>
            <a:r>
              <a:rPr lang="en-US" sz="1800" b="0" i="0" dirty="0">
                <a:solidFill>
                  <a:srgbClr val="000000"/>
                </a:solidFill>
                <a:effectLst/>
                <a:latin typeface="Calibri" panose="020F0502020204030204" pitchFamily="34" charset="0"/>
              </a:rPr>
              <a:t>First, we classify data using 3 methods. These 3 methods will help in knowing the performance and making the decision.  </a:t>
            </a:r>
          </a:p>
          <a:p>
            <a:pPr marL="0" indent="0">
              <a:buNone/>
            </a:pPr>
            <a:endParaRPr lang="en-US" sz="1800" dirty="0">
              <a:solidFill>
                <a:srgbClr val="000000"/>
              </a:solidFill>
              <a:latin typeface="Calibri" panose="020F0502020204030204" pitchFamily="34" charset="0"/>
              <a:cs typeface="Calibri"/>
            </a:endParaRPr>
          </a:p>
          <a:p>
            <a:pPr marL="0" indent="0">
              <a:buNone/>
            </a:pPr>
            <a:r>
              <a:rPr lang="en-US" sz="1800" b="1" i="0" dirty="0" err="1">
                <a:solidFill>
                  <a:srgbClr val="000000"/>
                </a:solidFill>
                <a:effectLst/>
                <a:latin typeface="Calibri" panose="020F0502020204030204" pitchFamily="34" charset="0"/>
              </a:rPr>
              <a:t>i</a:t>
            </a:r>
            <a:r>
              <a:rPr lang="en-US" sz="1800" b="1" i="0" dirty="0">
                <a:solidFill>
                  <a:srgbClr val="000000"/>
                </a:solidFill>
                <a:effectLst/>
                <a:latin typeface="Calibri" panose="020F0502020204030204" pitchFamily="34" charset="0"/>
              </a:rPr>
              <a:t>) Logistic Regression: </a:t>
            </a:r>
            <a:r>
              <a:rPr lang="en-US" sz="1800" b="0" i="0" dirty="0">
                <a:solidFill>
                  <a:srgbClr val="000000"/>
                </a:solidFill>
                <a:effectLst/>
                <a:latin typeface="Calibri" panose="020F0502020204030204" pitchFamily="34" charset="0"/>
              </a:rPr>
              <a:t>Using this method we are predicting the chances of a reservation not being canceled in a particular month.</a:t>
            </a:r>
            <a:endParaRPr lang="en-US" dirty="0">
              <a:cs typeface="Calibri"/>
            </a:endParaRPr>
          </a:p>
          <a:p>
            <a:pPr marL="0" indent="0">
              <a:buNone/>
            </a:pPr>
            <a:endParaRPr lang="en-US" dirty="0">
              <a:cs typeface="Calibri"/>
            </a:endParaRPr>
          </a:p>
          <a:p>
            <a:endParaRPr lang="en-US" dirty="0">
              <a:cs typeface="Calibri"/>
            </a:endParaRPr>
          </a:p>
          <a:p>
            <a:pPr marL="0" indent="0">
              <a:buNone/>
            </a:pPr>
            <a:endParaRPr lang="en-US" dirty="0">
              <a:cs typeface="Calibri"/>
            </a:endParaRPr>
          </a:p>
        </p:txBody>
      </p:sp>
    </p:spTree>
    <p:extLst>
      <p:ext uri="{BB962C8B-B14F-4D97-AF65-F5344CB8AC3E}">
        <p14:creationId xmlns:p14="http://schemas.microsoft.com/office/powerpoint/2010/main" val="3846514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82939A1-A26A-4725-950E-4DDDDFA94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086"/>
            <a:ext cx="4060462" cy="46451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20351CF-F68E-4639-8E34-275FD49AB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389" y="72520"/>
            <a:ext cx="3171825" cy="46863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BDA5EE7A-1BDD-4392-86D8-8D8E1F09C7B5}"/>
              </a:ext>
            </a:extLst>
          </p:cNvPr>
          <p:cNvGraphicFramePr>
            <a:graphicFrameLocks noGrp="1"/>
          </p:cNvGraphicFramePr>
          <p:nvPr>
            <p:extLst>
              <p:ext uri="{D42A27DB-BD31-4B8C-83A1-F6EECF244321}">
                <p14:modId xmlns:p14="http://schemas.microsoft.com/office/powerpoint/2010/main" val="512286953"/>
              </p:ext>
            </p:extLst>
          </p:nvPr>
        </p:nvGraphicFramePr>
        <p:xfrm>
          <a:off x="110836" y="4828308"/>
          <a:ext cx="4751362" cy="768927"/>
        </p:xfrm>
        <a:graphic>
          <a:graphicData uri="http://schemas.openxmlformats.org/drawingml/2006/table">
            <a:tbl>
              <a:tblPr/>
              <a:tblGrid>
                <a:gridCol w="853281">
                  <a:extLst>
                    <a:ext uri="{9D8B030D-6E8A-4147-A177-3AD203B41FA5}">
                      <a16:colId xmlns:a16="http://schemas.microsoft.com/office/drawing/2014/main" val="2230459532"/>
                    </a:ext>
                  </a:extLst>
                </a:gridCol>
                <a:gridCol w="717641">
                  <a:extLst>
                    <a:ext uri="{9D8B030D-6E8A-4147-A177-3AD203B41FA5}">
                      <a16:colId xmlns:a16="http://schemas.microsoft.com/office/drawing/2014/main" val="3648592559"/>
                    </a:ext>
                  </a:extLst>
                </a:gridCol>
                <a:gridCol w="1717663">
                  <a:extLst>
                    <a:ext uri="{9D8B030D-6E8A-4147-A177-3AD203B41FA5}">
                      <a16:colId xmlns:a16="http://schemas.microsoft.com/office/drawing/2014/main" val="3013582574"/>
                    </a:ext>
                  </a:extLst>
                </a:gridCol>
                <a:gridCol w="1462777">
                  <a:extLst>
                    <a:ext uri="{9D8B030D-6E8A-4147-A177-3AD203B41FA5}">
                      <a16:colId xmlns:a16="http://schemas.microsoft.com/office/drawing/2014/main" val="3210503605"/>
                    </a:ext>
                  </a:extLst>
                </a:gridCol>
              </a:tblGrid>
              <a:tr h="768927">
                <a:tc>
                  <a:txBody>
                    <a:bodyPr/>
                    <a:lstStyle/>
                    <a:p>
                      <a:pPr algn="just" rtl="0" fontAlgn="base"/>
                      <a:r>
                        <a:rPr lang="en-US" sz="1100" b="1" i="0" dirty="0">
                          <a:solidFill>
                            <a:srgbClr val="112277"/>
                          </a:solidFill>
                          <a:effectLst/>
                          <a:latin typeface="Arial" panose="020B0604020202020204" pitchFamily="34" charset="0"/>
                        </a:rPr>
                        <a:t>R-Square</a:t>
                      </a:r>
                      <a:r>
                        <a:rPr lang="en-US" sz="1100" b="0" i="0" dirty="0">
                          <a:solidFill>
                            <a:srgbClr val="112277"/>
                          </a:solidFill>
                          <a:effectLst/>
                          <a:latin typeface="Arial" panose="020B0604020202020204" pitchFamily="34" charset="0"/>
                        </a:rPr>
                        <a:t> </a:t>
                      </a:r>
                      <a:endParaRPr lang="en-US" b="0" i="0" dirty="0">
                        <a:effectLst/>
                      </a:endParaRPr>
                    </a:p>
                  </a:txBody>
                  <a:tcPr>
                    <a:lnL w="4763" cap="flat" cmpd="sng" algn="ctr">
                      <a:solidFill>
                        <a:srgbClr val="B0B7BB"/>
                      </a:solidFill>
                      <a:prstDash val="solid"/>
                      <a:round/>
                      <a:headEnd type="none" w="med" len="med"/>
                      <a:tailEnd type="none" w="med" len="med"/>
                    </a:lnL>
                    <a:lnR w="4763" cap="flat" cmpd="sng" algn="ctr">
                      <a:solidFill>
                        <a:srgbClr val="B0B7BB"/>
                      </a:solidFill>
                      <a:prstDash val="solid"/>
                      <a:round/>
                      <a:headEnd type="none" w="med" len="med"/>
                      <a:tailEnd type="none" w="med" len="med"/>
                    </a:lnR>
                    <a:lnT w="4763" cap="flat" cmpd="sng" algn="ctr">
                      <a:solidFill>
                        <a:srgbClr val="B0B7BB"/>
                      </a:solidFill>
                      <a:prstDash val="solid"/>
                      <a:round/>
                      <a:headEnd type="none" w="med" len="med"/>
                      <a:tailEnd type="none" w="med" len="med"/>
                    </a:lnT>
                    <a:lnB w="4763" cap="flat" cmpd="sng" algn="ctr">
                      <a:solidFill>
                        <a:srgbClr val="B0B7BB"/>
                      </a:solidFill>
                      <a:prstDash val="solid"/>
                      <a:round/>
                      <a:headEnd type="none" w="med" len="med"/>
                      <a:tailEnd type="none" w="med" len="med"/>
                    </a:lnB>
                    <a:solidFill>
                      <a:srgbClr val="EDF2F9"/>
                    </a:solidFill>
                  </a:tcPr>
                </a:tc>
                <a:tc>
                  <a:txBody>
                    <a:bodyPr/>
                    <a:lstStyle/>
                    <a:p>
                      <a:pPr algn="just" rtl="0" fontAlgn="base"/>
                      <a:r>
                        <a:rPr lang="en-US" sz="1100" b="0" i="0" dirty="0">
                          <a:solidFill>
                            <a:srgbClr val="000000"/>
                          </a:solidFill>
                          <a:effectLst/>
                          <a:latin typeface="Arial" panose="020B0604020202020204" pitchFamily="34" charset="0"/>
                        </a:rPr>
                        <a:t>0.5370 </a:t>
                      </a:r>
                      <a:endParaRPr lang="en-US" b="0" i="0" dirty="0">
                        <a:effectLst/>
                      </a:endParaRPr>
                    </a:p>
                  </a:txBody>
                  <a:tcPr>
                    <a:lnL w="4763" cap="flat" cmpd="sng" algn="ctr">
                      <a:solidFill>
                        <a:srgbClr val="B0B7BB"/>
                      </a:solidFill>
                      <a:prstDash val="solid"/>
                      <a:round/>
                      <a:headEnd type="none" w="med" len="med"/>
                      <a:tailEnd type="none" w="med" len="med"/>
                    </a:lnL>
                    <a:lnR w="4763" cap="flat" cmpd="sng" algn="ctr">
                      <a:solidFill>
                        <a:srgbClr val="C1C1C1"/>
                      </a:solidFill>
                      <a:prstDash val="solid"/>
                      <a:round/>
                      <a:headEnd type="none" w="med" len="med"/>
                      <a:tailEnd type="none" w="med" len="med"/>
                    </a:lnR>
                    <a:lnT w="4763" cap="flat" cmpd="sng" algn="ctr">
                      <a:solidFill>
                        <a:srgbClr val="C1C1C1"/>
                      </a:solidFill>
                      <a:prstDash val="solid"/>
                      <a:round/>
                      <a:headEnd type="none" w="med" len="med"/>
                      <a:tailEnd type="none" w="med" len="med"/>
                    </a:lnT>
                    <a:lnB w="4763" cap="flat" cmpd="sng" algn="ctr">
                      <a:solidFill>
                        <a:srgbClr val="C1C1C1"/>
                      </a:solidFill>
                      <a:prstDash val="solid"/>
                      <a:round/>
                      <a:headEnd type="none" w="med" len="med"/>
                      <a:tailEnd type="none" w="med" len="med"/>
                    </a:lnB>
                    <a:solidFill>
                      <a:srgbClr val="FFFFFF"/>
                    </a:solidFill>
                  </a:tcPr>
                </a:tc>
                <a:tc>
                  <a:txBody>
                    <a:bodyPr/>
                    <a:lstStyle/>
                    <a:p>
                      <a:pPr algn="just" rtl="0" fontAlgn="base"/>
                      <a:r>
                        <a:rPr lang="en-US" sz="1100" b="1" i="0" dirty="0">
                          <a:solidFill>
                            <a:srgbClr val="112277"/>
                          </a:solidFill>
                          <a:effectLst/>
                          <a:latin typeface="Arial" panose="020B0604020202020204" pitchFamily="34" charset="0"/>
                        </a:rPr>
                        <a:t>Max-rescaled R-Square</a:t>
                      </a:r>
                      <a:r>
                        <a:rPr lang="en-US" sz="1100" b="0" i="0" dirty="0">
                          <a:solidFill>
                            <a:srgbClr val="112277"/>
                          </a:solidFill>
                          <a:effectLst/>
                          <a:latin typeface="Arial" panose="020B0604020202020204" pitchFamily="34" charset="0"/>
                        </a:rPr>
                        <a:t> </a:t>
                      </a:r>
                      <a:endParaRPr lang="en-US" b="0" i="0" dirty="0">
                        <a:effectLst/>
                      </a:endParaRPr>
                    </a:p>
                  </a:txBody>
                  <a:tcPr>
                    <a:lnL w="4763" cap="flat" cmpd="sng" algn="ctr">
                      <a:solidFill>
                        <a:srgbClr val="C1C1C1"/>
                      </a:solidFill>
                      <a:prstDash val="solid"/>
                      <a:round/>
                      <a:headEnd type="none" w="med" len="med"/>
                      <a:tailEnd type="none" w="med" len="med"/>
                    </a:lnL>
                    <a:lnR w="4763" cap="flat" cmpd="sng" algn="ctr">
                      <a:solidFill>
                        <a:srgbClr val="B0B7BB"/>
                      </a:solidFill>
                      <a:prstDash val="solid"/>
                      <a:round/>
                      <a:headEnd type="none" w="med" len="med"/>
                      <a:tailEnd type="none" w="med" len="med"/>
                    </a:lnR>
                    <a:lnT w="4763" cap="flat" cmpd="sng" algn="ctr">
                      <a:solidFill>
                        <a:srgbClr val="B0B7BB"/>
                      </a:solidFill>
                      <a:prstDash val="solid"/>
                      <a:round/>
                      <a:headEnd type="none" w="med" len="med"/>
                      <a:tailEnd type="none" w="med" len="med"/>
                    </a:lnT>
                    <a:lnB w="4763" cap="flat" cmpd="sng" algn="ctr">
                      <a:solidFill>
                        <a:srgbClr val="B0B7BB"/>
                      </a:solidFill>
                      <a:prstDash val="solid"/>
                      <a:round/>
                      <a:headEnd type="none" w="med" len="med"/>
                      <a:tailEnd type="none" w="med" len="med"/>
                    </a:lnB>
                    <a:solidFill>
                      <a:srgbClr val="EDF2F9"/>
                    </a:solidFill>
                  </a:tcPr>
                </a:tc>
                <a:tc>
                  <a:txBody>
                    <a:bodyPr/>
                    <a:lstStyle/>
                    <a:p>
                      <a:pPr algn="just" rtl="0" fontAlgn="base"/>
                      <a:r>
                        <a:rPr lang="en-US" sz="1100" b="0" i="0" dirty="0">
                          <a:solidFill>
                            <a:srgbClr val="000000"/>
                          </a:solidFill>
                          <a:effectLst/>
                          <a:latin typeface="Arial" panose="020B0604020202020204" pitchFamily="34" charset="0"/>
                        </a:rPr>
                        <a:t>0.7320 </a:t>
                      </a:r>
                      <a:endParaRPr lang="en-US" b="0" i="0" dirty="0">
                        <a:effectLst/>
                      </a:endParaRPr>
                    </a:p>
                  </a:txBody>
                  <a:tcPr>
                    <a:lnL w="4763" cap="flat" cmpd="sng" algn="ctr">
                      <a:solidFill>
                        <a:srgbClr val="B0B7BB"/>
                      </a:solidFill>
                      <a:prstDash val="solid"/>
                      <a:round/>
                      <a:headEnd type="none" w="med" len="med"/>
                      <a:tailEnd type="none" w="med" len="med"/>
                    </a:lnL>
                    <a:lnR w="4763" cap="flat" cmpd="sng" algn="ctr">
                      <a:solidFill>
                        <a:srgbClr val="C1C1C1"/>
                      </a:solidFill>
                      <a:prstDash val="solid"/>
                      <a:round/>
                      <a:headEnd type="none" w="med" len="med"/>
                      <a:tailEnd type="none" w="med" len="med"/>
                    </a:lnR>
                    <a:lnT w="4763" cap="flat" cmpd="sng" algn="ctr">
                      <a:solidFill>
                        <a:srgbClr val="C1C1C1"/>
                      </a:solidFill>
                      <a:prstDash val="solid"/>
                      <a:round/>
                      <a:headEnd type="none" w="med" len="med"/>
                      <a:tailEnd type="none" w="med" len="med"/>
                    </a:lnT>
                    <a:lnB w="4763"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161671394"/>
                  </a:ext>
                </a:extLst>
              </a:tr>
            </a:tbl>
          </a:graphicData>
        </a:graphic>
      </p:graphicFrame>
      <p:pic>
        <p:nvPicPr>
          <p:cNvPr id="1030" name="Picture 6">
            <a:extLst>
              <a:ext uri="{FF2B5EF4-FFF2-40B4-BE49-F238E27FC236}">
                <a16:creationId xmlns:a16="http://schemas.microsoft.com/office/drawing/2014/main" id="{D4947E95-9491-487B-A8B3-0313D8B59A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8313" y="1918855"/>
            <a:ext cx="4429639"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50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9DC64-CAFA-4E86-AEFF-320679A0E1B7}"/>
              </a:ext>
            </a:extLst>
          </p:cNvPr>
          <p:cNvSpPr>
            <a:spLocks noGrp="1"/>
          </p:cNvSpPr>
          <p:nvPr>
            <p:ph type="title"/>
          </p:nvPr>
        </p:nvSpPr>
        <p:spPr/>
        <p:txBody>
          <a:bodyPr/>
          <a:lstStyle/>
          <a:p>
            <a:r>
              <a:rPr lang="en-US" b="1" dirty="0">
                <a:cs typeface="Calibri Light"/>
              </a:rPr>
              <a:t>Result: </a:t>
            </a:r>
          </a:p>
        </p:txBody>
      </p:sp>
      <p:sp>
        <p:nvSpPr>
          <p:cNvPr id="3" name="Content Placeholder 2">
            <a:extLst>
              <a:ext uri="{FF2B5EF4-FFF2-40B4-BE49-F238E27FC236}">
                <a16:creationId xmlns:a16="http://schemas.microsoft.com/office/drawing/2014/main" id="{BC2801BA-796B-4F7E-A32D-2334238BA194}"/>
              </a:ext>
            </a:extLst>
          </p:cNvPr>
          <p:cNvSpPr>
            <a:spLocks noGrp="1"/>
          </p:cNvSpPr>
          <p:nvPr>
            <p:ph idx="1"/>
          </p:nvPr>
        </p:nvSpPr>
        <p:spPr/>
        <p:txBody>
          <a:bodyPr vert="horz" lIns="0" tIns="45720" rIns="0" bIns="45720" rtlCol="0" anchor="t">
            <a:normAutofit/>
          </a:bodyPr>
          <a:lstStyle/>
          <a:p>
            <a:pPr algn="just" rtl="0" fontAlgn="base"/>
            <a:r>
              <a:rPr lang="en-US" sz="1800" b="0" i="0" dirty="0">
                <a:solidFill>
                  <a:srgbClr val="000000"/>
                </a:solidFill>
                <a:effectLst/>
                <a:latin typeface="Calibri" panose="020F0502020204030204" pitchFamily="34" charset="0"/>
              </a:rPr>
              <a:t>Here the Maximum Likelihood Estimates and P value is significant. Hence, we can conclude that there is a statistically significant association between the response variable and the term. </a:t>
            </a:r>
            <a:endParaRPr lang="en-US" b="0" i="0" dirty="0">
              <a:solidFill>
                <a:srgbClr val="000000"/>
              </a:solidFill>
              <a:effectLst/>
              <a:latin typeface="Calibri" panose="020F0502020204030204" pitchFamily="34" charset="0"/>
            </a:endParaRP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In these results, the arrival date of January is statistically significant at the significance level of &lt;0.0001. We can conclude that changes in the reservation(booking) are associated with changes in the probability that the event(cancelation) will occur.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The estimates for </a:t>
            </a:r>
            <a:r>
              <a:rPr lang="en-US" sz="1800" b="0" i="0" dirty="0" err="1">
                <a:solidFill>
                  <a:srgbClr val="000000"/>
                </a:solidFill>
                <a:effectLst/>
                <a:latin typeface="Calibri" panose="020F0502020204030204" pitchFamily="34" charset="0"/>
              </a:rPr>
              <a:t>arrival_date_January</a:t>
            </a:r>
            <a:r>
              <a:rPr lang="en-US" sz="1800" b="0" i="0" dirty="0">
                <a:solidFill>
                  <a:srgbClr val="000000"/>
                </a:solidFill>
                <a:effectLst/>
                <a:latin typeface="Calibri" panose="020F0502020204030204" pitchFamily="34" charset="0"/>
              </a:rPr>
              <a:t> is 1.2321, which suggests that higher booking in January month is associated with higher probabilities that the event will occur (reservation cancelation will not happen).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Considering the odds ratio for arrival date January: Since 1 is not in the interval (3.027, 3.883) we are 95% confident that an increase of 1 booking in the January month increase the odds of booking not being canceled by 200% to 288%.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For these data, the Max re-scaled R2 value indicates the model provides a good fit to the data. </a:t>
            </a:r>
          </a:p>
          <a:p>
            <a:endParaRPr lang="en-US" dirty="0">
              <a:cs typeface="Calibri"/>
            </a:endParaRPr>
          </a:p>
        </p:txBody>
      </p:sp>
    </p:spTree>
    <p:extLst>
      <p:ext uri="{BB962C8B-B14F-4D97-AF65-F5344CB8AC3E}">
        <p14:creationId xmlns:p14="http://schemas.microsoft.com/office/powerpoint/2010/main" val="2532141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765BC-59C5-47DF-8BB2-ADBE8F3CC65D}"/>
              </a:ext>
            </a:extLst>
          </p:cNvPr>
          <p:cNvSpPr>
            <a:spLocks noGrp="1"/>
          </p:cNvSpPr>
          <p:nvPr>
            <p:ph type="ctrTitle"/>
          </p:nvPr>
        </p:nvSpPr>
        <p:spPr/>
        <p:txBody>
          <a:bodyPr/>
          <a:lstStyle/>
          <a:p>
            <a:r>
              <a:rPr lang="en-US" sz="8000" b="1" i="0" dirty="0">
                <a:solidFill>
                  <a:srgbClr val="000000"/>
                </a:solidFill>
                <a:effectLst/>
                <a:latin typeface="Calibri" panose="020F0502020204030204" pitchFamily="34" charset="0"/>
              </a:rPr>
              <a:t>ii) Linear Multiple Regression: </a:t>
            </a:r>
            <a:endParaRPr lang="en-US" dirty="0"/>
          </a:p>
        </p:txBody>
      </p:sp>
      <p:sp>
        <p:nvSpPr>
          <p:cNvPr id="3" name="Subtitle 2">
            <a:extLst>
              <a:ext uri="{FF2B5EF4-FFF2-40B4-BE49-F238E27FC236}">
                <a16:creationId xmlns:a16="http://schemas.microsoft.com/office/drawing/2014/main" id="{BA636CFD-619F-4867-B44B-ACAE8866FF74}"/>
              </a:ext>
            </a:extLst>
          </p:cNvPr>
          <p:cNvSpPr>
            <a:spLocks noGrp="1"/>
          </p:cNvSpPr>
          <p:nvPr>
            <p:ph type="subTitle" idx="1"/>
          </p:nvPr>
        </p:nvSpPr>
        <p:spPr/>
        <p:txBody>
          <a:bodyPr/>
          <a:lstStyle/>
          <a:p>
            <a:r>
              <a:rPr lang="en-US" sz="2400" b="0" i="0" dirty="0">
                <a:solidFill>
                  <a:srgbClr val="000000"/>
                </a:solidFill>
                <a:effectLst/>
                <a:latin typeface="Calibri" panose="020F0502020204030204" pitchFamily="34" charset="0"/>
              </a:rPr>
              <a:t>To predict the booking cancellation based on bookings made through agents, we are using Linear Multiple regression: </a:t>
            </a:r>
            <a:endParaRPr lang="en-US" dirty="0"/>
          </a:p>
          <a:p>
            <a:endParaRPr lang="en-US" dirty="0"/>
          </a:p>
        </p:txBody>
      </p:sp>
    </p:spTree>
    <p:extLst>
      <p:ext uri="{BB962C8B-B14F-4D97-AF65-F5344CB8AC3E}">
        <p14:creationId xmlns:p14="http://schemas.microsoft.com/office/powerpoint/2010/main" val="31512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65E4EB1-117A-42F4-8875-C6385FDE4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84" y="0"/>
            <a:ext cx="2819400" cy="50768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271F43B-DD18-44ED-9463-2C19442C2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606" y="487074"/>
            <a:ext cx="2638425" cy="44291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85BAACE-9BFD-4081-A7C6-21F738C564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2065" y="1076324"/>
            <a:ext cx="3590925"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752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76C914-1496-4983-9470-9CCDA040ED44}"/>
              </a:ext>
            </a:extLst>
          </p:cNvPr>
          <p:cNvSpPr txBox="1"/>
          <p:nvPr/>
        </p:nvSpPr>
        <p:spPr>
          <a:xfrm>
            <a:off x="876072" y="2136339"/>
            <a:ext cx="8267928" cy="1754326"/>
          </a:xfrm>
          <a:prstGeom prst="rect">
            <a:avLst/>
          </a:prstGeom>
          <a:noFill/>
        </p:spPr>
        <p:txBody>
          <a:bodyPr wrap="square">
            <a:spAutoFit/>
          </a:bodyPr>
          <a:lstStyle/>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The model is statistically significant since the p value is less than 0.0001.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R-square value is 0.2573. That means independent variable agent explains about 26% of variation in the dependent variable.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Predicting the cancelation of booking made through agent-9 since they have the highest number of bookings canceled in past. So, if we get 100 booking through agent 9, then around 29 bookings can be canceled (Y = 0.1512+0.2833(100)) </a:t>
            </a:r>
          </a:p>
        </p:txBody>
      </p:sp>
    </p:spTree>
    <p:extLst>
      <p:ext uri="{BB962C8B-B14F-4D97-AF65-F5344CB8AC3E}">
        <p14:creationId xmlns:p14="http://schemas.microsoft.com/office/powerpoint/2010/main" val="288792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5124-ECAB-4D5B-9992-80F9DFC92569}"/>
              </a:ext>
            </a:extLst>
          </p:cNvPr>
          <p:cNvSpPr>
            <a:spLocks noGrp="1"/>
          </p:cNvSpPr>
          <p:nvPr>
            <p:ph type="ctrTitle"/>
          </p:nvPr>
        </p:nvSpPr>
        <p:spPr/>
        <p:txBody>
          <a:bodyPr/>
          <a:lstStyle/>
          <a:p>
            <a:r>
              <a:rPr lang="en-US" b="1" i="0" dirty="0">
                <a:solidFill>
                  <a:srgbClr val="000000"/>
                </a:solidFill>
                <a:effectLst/>
                <a:latin typeface="Calibri" panose="020F0502020204030204" pitchFamily="34" charset="0"/>
              </a:rPr>
              <a:t>iii) Clustering:</a:t>
            </a:r>
            <a:endParaRPr lang="en-US" dirty="0"/>
          </a:p>
        </p:txBody>
      </p:sp>
      <p:sp>
        <p:nvSpPr>
          <p:cNvPr id="3" name="Subtitle 2">
            <a:extLst>
              <a:ext uri="{FF2B5EF4-FFF2-40B4-BE49-F238E27FC236}">
                <a16:creationId xmlns:a16="http://schemas.microsoft.com/office/drawing/2014/main" id="{9B35F987-9D58-4FFC-BE9B-E9CCB71B1859}"/>
              </a:ext>
            </a:extLst>
          </p:cNvPr>
          <p:cNvSpPr>
            <a:spLocks noGrp="1"/>
          </p:cNvSpPr>
          <p:nvPr>
            <p:ph type="subTitle" idx="1"/>
          </p:nvPr>
        </p:nvSpPr>
        <p:spPr/>
        <p:txBody>
          <a:bodyPr>
            <a:normAutofit fontScale="92500"/>
          </a:bodyPr>
          <a:lstStyle/>
          <a:p>
            <a:r>
              <a:rPr lang="en-US" b="0" i="0" dirty="0">
                <a:solidFill>
                  <a:srgbClr val="000000"/>
                </a:solidFill>
                <a:effectLst/>
                <a:latin typeface="Calibri" panose="020F0502020204030204" pitchFamily="34" charset="0"/>
              </a:rPr>
              <a:t>Through the clustering problem based on K-Means we are analyzing the results of each cluster to identify the most profitable clients in our data set based on lead time and ADR.</a:t>
            </a:r>
            <a:endParaRPr lang="en-US" dirty="0"/>
          </a:p>
        </p:txBody>
      </p:sp>
    </p:spTree>
    <p:extLst>
      <p:ext uri="{BB962C8B-B14F-4D97-AF65-F5344CB8AC3E}">
        <p14:creationId xmlns:p14="http://schemas.microsoft.com/office/powerpoint/2010/main" val="1853037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40E39A9-B33D-46A6-92D6-62172289B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883" y="311530"/>
            <a:ext cx="2981325" cy="39243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40A4CD1-2A4C-431A-99F9-404824710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260" y="948604"/>
            <a:ext cx="5076825" cy="338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317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670414-453F-4E74-9467-0FD507B44255}"/>
              </a:ext>
            </a:extLst>
          </p:cNvPr>
          <p:cNvSpPr txBox="1"/>
          <p:nvPr/>
        </p:nvSpPr>
        <p:spPr>
          <a:xfrm>
            <a:off x="635152" y="2690336"/>
            <a:ext cx="8508848" cy="1200329"/>
          </a:xfrm>
          <a:prstGeom prst="rect">
            <a:avLst/>
          </a:prstGeom>
          <a:noFill/>
        </p:spPr>
        <p:txBody>
          <a:bodyPr wrap="square">
            <a:spAutoFit/>
          </a:bodyPr>
          <a:lstStyle/>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Through this analysis, we can say that the clients with the lowest lead time and the highest ADR i.e., the clients that appear in the green cluster are the most profitable.  </a:t>
            </a: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While the red category shows the lowest ADR and the highest (least profitable) delivery time</a:t>
            </a:r>
          </a:p>
        </p:txBody>
      </p:sp>
    </p:spTree>
    <p:extLst>
      <p:ext uri="{BB962C8B-B14F-4D97-AF65-F5344CB8AC3E}">
        <p14:creationId xmlns:p14="http://schemas.microsoft.com/office/powerpoint/2010/main" val="1084223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4E7223-D070-44DA-8ECD-87821E971AEA}"/>
              </a:ext>
            </a:extLst>
          </p:cNvPr>
          <p:cNvSpPr txBox="1"/>
          <p:nvPr/>
        </p:nvSpPr>
        <p:spPr>
          <a:xfrm>
            <a:off x="43804" y="227038"/>
            <a:ext cx="11531295" cy="5887702"/>
          </a:xfrm>
          <a:prstGeom prst="rect">
            <a:avLst/>
          </a:prstGeom>
          <a:noFill/>
        </p:spPr>
        <p:txBody>
          <a:bodyPr wrap="square">
            <a:spAutoFit/>
          </a:bodyPr>
          <a:lstStyle/>
          <a:p>
            <a:pPr marL="0" marR="0" algn="just">
              <a:lnSpc>
                <a:spcPct val="90000"/>
              </a:lnSpc>
              <a:spcBef>
                <a:spcPts val="0"/>
              </a:spcBef>
              <a:spcAft>
                <a:spcPts val="800"/>
              </a:spcAft>
              <a:tabLst>
                <a:tab pos="12700" algn="l"/>
                <a:tab pos="91440" algn="l"/>
              </a:tabLst>
            </a:pPr>
            <a:r>
              <a:rPr lang="en-US" sz="1800" dirty="0">
                <a:solidFill>
                  <a:srgbClr val="313131"/>
                </a:solidFill>
                <a:effectLst/>
                <a:latin typeface="Calibri" panose="020F0502020204030204" pitchFamily="34" charset="0"/>
                <a:ea typeface="Calibri" panose="020F0502020204030204" pitchFamily="34" charset="0"/>
                <a:cs typeface="Calibri" panose="020F0502020204030204" pitchFamily="34" charset="0"/>
              </a:rPr>
              <a:t>Hotel demand forecasting is one such method that helps hotels make informed decisions, based on implementation of various analysis from regression methods and graphs, we can conclude: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tabLst>
                <a:tab pos="12700" algn="l"/>
                <a:tab pos="91440" algn="l"/>
              </a:tabLst>
            </a:pPr>
            <a:r>
              <a:rPr lang="en-US" sz="1800" dirty="0">
                <a:solidFill>
                  <a:srgbClr val="313131"/>
                </a:solidFill>
                <a:effectLst/>
                <a:latin typeface="Calibri" panose="020F0502020204030204" pitchFamily="34" charset="0"/>
                <a:ea typeface="Calibri" panose="020F0502020204030204" pitchFamily="34" charset="0"/>
                <a:cs typeface="Calibri" panose="020F0502020204030204" pitchFamily="34" charset="0"/>
              </a:rPr>
              <a:t>We forecast hotel sector trends by evaluating the graphs, and we conclude that summer and fall season bookings are strong. Staff, inventory, and supplies should all be arranged ahead of time to keep these bookings under control.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tabLst>
                <a:tab pos="12700" algn="l"/>
                <a:tab pos="91440" algn="l"/>
              </a:tabLst>
            </a:pPr>
            <a:r>
              <a:rPr lang="en-US" sz="1800" dirty="0">
                <a:solidFill>
                  <a:srgbClr val="313131"/>
                </a:solidFill>
                <a:effectLst/>
                <a:latin typeface="Calibri" panose="020F0502020204030204" pitchFamily="34" charset="0"/>
                <a:ea typeface="Calibri" panose="020F0502020204030204" pitchFamily="34" charset="0"/>
                <a:cs typeface="Calibri" panose="020F0502020204030204" pitchFamily="34" charset="0"/>
              </a:rPr>
              <a:t>To increase the number of transient type of customers (since, transient kind of customers generate most of the income), adjusting room pricing, experimenting with promotional discounts (such as offering a complimentary breakfast for last-minute bookings, and putting your hotel on multiple online travel agencies will all help to enhance your visibility.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tabLst>
                <a:tab pos="12700" algn="l"/>
                <a:tab pos="9144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Based on the implementation of multiple linear regression method we can conclude that chances of bookings getting canceled, which are done through agent are very less. We know that these days online travel agents are the best market for reservations. So, we may offer some credits to attract agents. </a:t>
            </a:r>
          </a:p>
          <a:p>
            <a:pPr marL="342900" marR="0" lvl="0" indent="-342900" algn="just">
              <a:lnSpc>
                <a:spcPct val="107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From the K-means we could visualize the most profitable customers and the least profitable customers, based on the two variables </a:t>
            </a:r>
            <a:r>
              <a:rPr lang="en-US" sz="18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lead_time</a:t>
            </a: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(Number of days elapsed between the date of entry of the reservation in the PMS and the client arrival date) and ADR (Average daily rate as defined by dividing the sum of all accommodation transactions by the total number of nights). This needs to be taken care of to get more customers and make more profit.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 have also used of logistic regression method to predict the odds of booking cancelation in the January month, because January is the season of travel. And we could predict with the high level of confidence level that on every increase in booking, the chances of reservation not being canceled is increased by 200% to 288%, which is a positive point.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Hiring Revenue Managers would be the best option to a hotel, as they know in and out of demand forecasting in the industry and can forecast fast and precisely.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95099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48</TotalTime>
  <Words>1267</Words>
  <Application>Microsoft Office PowerPoint</Application>
  <PresentationFormat>Widescreen</PresentationFormat>
  <Paragraphs>59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Symbol</vt:lpstr>
      <vt:lpstr>Retrospect</vt:lpstr>
      <vt:lpstr>Hotel Booking Demand Prediction</vt:lpstr>
      <vt:lpstr>PowerPoint Presentation</vt:lpstr>
      <vt:lpstr>Graphical Presentation  of Data</vt:lpstr>
      <vt:lpstr>Total Reservations</vt:lpstr>
      <vt:lpstr>Booking Status by Type of Hotel</vt:lpstr>
      <vt:lpstr>Country wise Reservations Status</vt:lpstr>
      <vt:lpstr>Total Bookings on customer type</vt:lpstr>
      <vt:lpstr>Design Analysis:</vt:lpstr>
      <vt:lpstr>PowerPoint Presentation</vt:lpstr>
      <vt:lpstr>Result: </vt:lpstr>
      <vt:lpstr>ii) Linear Multiple Regression: </vt:lpstr>
      <vt:lpstr>PowerPoint Presentation</vt:lpstr>
      <vt:lpstr>PowerPoint Presentation</vt:lpstr>
      <vt:lpstr>iii) Clustering:</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 battula</dc:creator>
  <cp:lastModifiedBy>Gangrade, Neelesh</cp:lastModifiedBy>
  <cp:revision>187</cp:revision>
  <dcterms:created xsi:type="dcterms:W3CDTF">2021-11-15T01:28:51Z</dcterms:created>
  <dcterms:modified xsi:type="dcterms:W3CDTF">2021-11-29T04:51:10Z</dcterms:modified>
</cp:coreProperties>
</file>